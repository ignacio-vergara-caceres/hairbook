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fNj0RPikPInlQn3p8fsbHm5L9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8b26d80b3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8b26d80b3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8b26d80b3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8F5EE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softly_lit_interior_scene_of_a_modern_salo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34000" r="18852" t="0"/>
          <a:stretch/>
        </p:blipFill>
        <p:spPr>
          <a:xfrm>
            <a:off x="6446520" y="0"/>
            <a:ext cx="5745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rgbClr val="00263A">
              <a:alpha val="27059"/>
            </a:srgbClr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F8F5EE"/>
          </a:solidFill>
          <a:ln cap="flat" cmpd="sng" w="12700">
            <a:solidFill>
              <a:srgbClr val="F8F5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F9B800"/>
          </a:solidFill>
          <a:ln cap="flat" cmpd="sng" w="12700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9829800" y="384048"/>
            <a:ext cx="15727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6217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41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941A"/>
                </a:solidFill>
                <a:latin typeface="Arial"/>
                <a:ea typeface="Arial"/>
                <a:cs typeface="Arial"/>
                <a:sym typeface="Arial"/>
              </a:rPr>
              <a:t>PROYECTO APT · FASE 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8368" y="1207008"/>
            <a:ext cx="5486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4200"/>
              <a:buFont typeface="Play"/>
              <a:buNone/>
            </a:pPr>
            <a:r>
              <a:rPr b="1" lang="en-US" sz="4200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HairBook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685800" y="2816352"/>
            <a:ext cx="960120" cy="0"/>
          </a:xfrm>
          <a:prstGeom prst="straightConnector1">
            <a:avLst/>
          </a:prstGeom>
          <a:noFill/>
          <a:ln cap="flat" cmpd="sng" w="50800">
            <a:solidFill>
              <a:srgbClr val="F9B8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694944" y="3063240"/>
            <a:ext cx="5166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Plataforma web para gestionar reservas, servicios, client</a:t>
            </a:r>
            <a:r>
              <a:rPr lang="en-US" sz="1850">
                <a:solidFill>
                  <a:srgbClr val="1F2933"/>
                </a:solidFill>
              </a:rPr>
              <a:t>as</a:t>
            </a:r>
            <a:r>
              <a:rPr b="0" i="0" lang="en-US" sz="18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 y disponibilidad semanal, manteniendo una experiencia de atención personalizada.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94944" y="4279392"/>
            <a:ext cx="1965960" cy="329184"/>
          </a:xfrm>
          <a:prstGeom prst="roundRect">
            <a:avLst>
              <a:gd fmla="val 22222" name="adj"/>
            </a:avLst>
          </a:prstGeom>
          <a:solidFill>
            <a:srgbClr val="F4E5B3"/>
          </a:solidFill>
          <a:ln cap="flat" cmpd="sng" w="12700">
            <a:solidFill>
              <a:srgbClr val="F4E5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04672" y="4352544"/>
            <a:ext cx="17465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00263A"/>
                </a:solidFill>
              </a:rPr>
              <a:t>W</a:t>
            </a: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eb administrable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88920" y="4279392"/>
            <a:ext cx="1645920" cy="329184"/>
          </a:xfrm>
          <a:prstGeom prst="roundRect">
            <a:avLst>
              <a:gd fmla="val 22222" name="adj"/>
            </a:avLst>
          </a:prstGeom>
          <a:solidFill>
            <a:srgbClr val="DCECF0"/>
          </a:solidFill>
          <a:ln cap="flat" cmpd="sng" w="12700">
            <a:solidFill>
              <a:srgbClr val="DCEC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898648" y="4352544"/>
            <a:ext cx="14264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Agenda + fichas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0" y="4279392"/>
            <a:ext cx="1691640" cy="329184"/>
          </a:xfrm>
          <a:prstGeom prst="roundRect">
            <a:avLst>
              <a:gd fmla="val 22222" name="adj"/>
            </a:avLst>
          </a:prstGeom>
          <a:solidFill>
            <a:srgbClr val="E8DDD8"/>
          </a:solidFill>
          <a:ln cap="flat" cmpd="sng" w="12700">
            <a:solidFill>
              <a:srgbClr val="E8DD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681728" y="4352544"/>
            <a:ext cx="14721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WhatsApp asistido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4944" y="5870448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Docente: Reginaldo Salinas Bruna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r>
              <a:rPr lang="en-US" sz="1050">
                <a:solidFill>
                  <a:srgbClr val="677483"/>
                </a:solidFill>
              </a:rPr>
              <a:t>Francisco Venegas</a:t>
            </a:r>
            <a:endParaRPr sz="1050">
              <a:solidFill>
                <a:srgbClr val="67748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77483"/>
                </a:solidFill>
              </a:rPr>
              <a:t>	        Ignacio Vergara</a:t>
            </a:r>
            <a:endParaRPr sz="1050">
              <a:solidFill>
                <a:srgbClr val="67748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77483"/>
                </a:solidFill>
              </a:rPr>
              <a:t>	        Benjamin Zamora</a:t>
            </a:r>
            <a:endParaRPr sz="1050">
              <a:solidFill>
                <a:srgbClr val="67748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Contexto y problemática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658368" y="1143000"/>
            <a:ext cx="6446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Hoy la gestión de horas depende casi por completo de conversaciones y revisión manual de disponibilidad.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2267712" y="2715768"/>
            <a:ext cx="347472" cy="0"/>
          </a:xfrm>
          <a:prstGeom prst="straightConnector1">
            <a:avLst/>
          </a:prstGeom>
          <a:noFill/>
          <a:ln cap="flat" cmpd="sng" w="17775">
            <a:solidFill>
              <a:srgbClr val="F9B8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" name="Google Shape;43;p2"/>
          <p:cNvCxnSpPr/>
          <p:nvPr/>
        </p:nvCxnSpPr>
        <p:spPr>
          <a:xfrm>
            <a:off x="4151376" y="2715768"/>
            <a:ext cx="347472" cy="0"/>
          </a:xfrm>
          <a:prstGeom prst="straightConnector1">
            <a:avLst/>
          </a:prstGeom>
          <a:noFill/>
          <a:ln cap="flat" cmpd="sng" w="17775">
            <a:solidFill>
              <a:srgbClr val="F9B8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" name="Google Shape;44;p2"/>
          <p:cNvCxnSpPr/>
          <p:nvPr/>
        </p:nvCxnSpPr>
        <p:spPr>
          <a:xfrm>
            <a:off x="6035040" y="2715768"/>
            <a:ext cx="347472" cy="0"/>
          </a:xfrm>
          <a:prstGeom prst="straightConnector1">
            <a:avLst/>
          </a:prstGeom>
          <a:noFill/>
          <a:ln cap="flat" cmpd="sng" w="17775">
            <a:solidFill>
              <a:srgbClr val="F9B8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" name="Google Shape;45;p2"/>
          <p:cNvSpPr/>
          <p:nvPr/>
        </p:nvSpPr>
        <p:spPr>
          <a:xfrm>
            <a:off x="658368" y="2148840"/>
            <a:ext cx="1600200" cy="1261872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10150">
            <a:solidFill>
              <a:srgbClr val="E1D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68096" y="2276856"/>
            <a:ext cx="411480" cy="411480"/>
          </a:xfrm>
          <a:prstGeom prst="rect">
            <a:avLst/>
          </a:prstGeom>
          <a:solidFill>
            <a:srgbClr val="F9B800"/>
          </a:solidFill>
          <a:ln cap="flat" cmpd="sng" w="9525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86384" y="274320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WhatsApp / Instagram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86384" y="298094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La clienta consulta y solicita servicios.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542032" y="2148840"/>
            <a:ext cx="1600200" cy="1261872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10150">
            <a:solidFill>
              <a:srgbClr val="E1D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651760" y="2276856"/>
            <a:ext cx="411480" cy="41148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670048" y="274320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Calendario celular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70048" y="298094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La administradora revisa cupos y bloqueos.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425696" y="2148840"/>
            <a:ext cx="1600200" cy="1261872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10150">
            <a:solidFill>
              <a:srgbClr val="E1D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35424" y="2276856"/>
            <a:ext cx="411480" cy="41148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53712" y="274320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Confirmación manual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53712" y="298094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Se valida abono, horario y estado de la cita.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309360" y="2148840"/>
            <a:ext cx="1600200" cy="1261872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 cap="flat" cmpd="sng" w="10150">
            <a:solidFill>
              <a:srgbClr val="E1D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19088" y="2276856"/>
            <a:ext cx="411480" cy="41148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37376" y="274320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Publicación en redes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46514" y="3052794"/>
            <a:ext cx="135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Se reescriben cupos disponibles para promocionar.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973568" y="1353312"/>
            <a:ext cx="3566160" cy="4343400"/>
          </a:xfrm>
          <a:prstGeom prst="roundRect">
            <a:avLst>
              <a:gd fmla="val 3333" name="adj"/>
            </a:avLst>
          </a:prstGeom>
          <a:solidFill>
            <a:srgbClr val="00263A"/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339328" y="1472334"/>
            <a:ext cx="265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D88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4D88A"/>
                </a:solidFill>
                <a:latin typeface="Arial"/>
                <a:ea typeface="Arial"/>
                <a:cs typeface="Arial"/>
                <a:sym typeface="Arial"/>
              </a:rPr>
              <a:t>Dolor principal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339328" y="2139696"/>
            <a:ext cx="2761488" cy="1243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Dar horas consume tiempo y obliga a revisar, copiar y publicar disponibilidad manualmente.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339328" y="3986784"/>
            <a:ext cx="27614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7E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DDE7EC"/>
                </a:solidFill>
                <a:latin typeface="Arial"/>
                <a:ea typeface="Arial"/>
                <a:cs typeface="Arial"/>
                <a:sym typeface="Arial"/>
              </a:rPr>
              <a:t>Impacto: mayor carga administrativa, menor agilidad comercial y riesgo de perder oportunidades por difusión lenta de horarios disponibles.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94944" y="498348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Necesidad detectada: visualizar rápido la agenda y generar una planilla visual para redes sociales.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¿En qué consiste la propuesta?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3"/>
          <p:cNvSpPr/>
          <p:nvPr/>
        </p:nvSpPr>
        <p:spPr>
          <a:xfrm>
            <a:off x="658368" y="1115568"/>
            <a:ext cx="55321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Un prototipo funcional web, responsivo y administrable que digitaliza el flujo principal sin reemplazar el trato personalizado.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76656" y="224028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4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9941A"/>
                </a:solidFill>
                <a:latin typeface="Arial"/>
                <a:ea typeface="Arial"/>
                <a:cs typeface="Arial"/>
                <a:sym typeface="Arial"/>
              </a:rPr>
              <a:t>MÓDULOS DEL </a:t>
            </a:r>
            <a:r>
              <a:rPr b="1" lang="en-US" sz="850">
                <a:solidFill>
                  <a:srgbClr val="C9941A"/>
                </a:solidFill>
              </a:rPr>
              <a:t>PROYECTO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94944" y="2542032"/>
            <a:ext cx="513892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Sitio público con servicios, precios, ubicación y redes.</a:t>
            </a:r>
            <a:b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Agenda semanal editable y bloqueo de disponibilidad.</a:t>
            </a:r>
            <a:b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Selección de servicios con derivación a WhatsApp.</a:t>
            </a:r>
            <a:b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Panel administrativo para citas, clientas e historial profesional.</a:t>
            </a:r>
            <a:b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Generador de planilla visual de cupos para historias de Instagram.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94944" y="4800600"/>
            <a:ext cx="5074920" cy="658368"/>
          </a:xfrm>
          <a:prstGeom prst="roundRect">
            <a:avLst>
              <a:gd fmla="val 13889" name="adj"/>
            </a:avLst>
          </a:prstGeom>
          <a:solidFill>
            <a:srgbClr val="FBF0CA"/>
          </a:solidFill>
          <a:ln cap="flat" cmpd="sng" w="12700">
            <a:solidFill>
              <a:srgbClr val="FBF0C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32688" y="4983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Valor esperado: menos tiempo operativo, mayor trazabilidad y mejor experiencia para clientas frecuentes.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clean_softly_lit_product_desktop_scene_a_moder.png" id="79" name="Google Shape;79;p3"/>
          <p:cNvPicPr preferRelativeResize="0"/>
          <p:nvPr/>
        </p:nvPicPr>
        <p:blipFill rotWithShape="1">
          <a:blip r:embed="rId3">
            <a:alphaModFix/>
          </a:blip>
          <a:srcRect b="12000" l="3000" r="41511" t="2000"/>
          <a:stretch/>
        </p:blipFill>
        <p:spPr>
          <a:xfrm>
            <a:off x="6537960" y="1170432"/>
            <a:ext cx="5010912" cy="437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537960" y="1170432"/>
            <a:ext cx="5010912" cy="4370832"/>
          </a:xfrm>
          <a:prstGeom prst="rect">
            <a:avLst/>
          </a:prstGeom>
          <a:solidFill>
            <a:srgbClr val="00263A">
              <a:alpha val="90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3"/>
          <p:cNvCxnSpPr/>
          <p:nvPr/>
        </p:nvCxnSpPr>
        <p:spPr>
          <a:xfrm>
            <a:off x="6537960" y="5669280"/>
            <a:ext cx="5010912" cy="0"/>
          </a:xfrm>
          <a:prstGeom prst="straightConnector1">
            <a:avLst/>
          </a:prstGeom>
          <a:noFill/>
          <a:ln cap="flat" cmpd="sng" w="50800">
            <a:solidFill>
              <a:srgbClr val="F9B8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Alcance, usuarios y límites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685800" y="107899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El alcance prioriza lo necesario para validar el flujo de agenda y administración dentro del semestre.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142468" y="1856201"/>
            <a:ext cx="3383400" cy="3310200"/>
          </a:xfrm>
          <a:prstGeom prst="roundRect">
            <a:avLst>
              <a:gd fmla="val 3315" name="adj"/>
            </a:avLst>
          </a:prstGeom>
          <a:solidFill>
            <a:srgbClr val="FFFFFF"/>
          </a:solidFill>
          <a:ln cap="flat" cmpd="sng" w="10150">
            <a:solidFill>
              <a:srgbClr val="E2D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602433" y="1856201"/>
            <a:ext cx="3383400" cy="3310200"/>
          </a:xfrm>
          <a:prstGeom prst="roundRect">
            <a:avLst>
              <a:gd fmla="val 3315" name="adj"/>
            </a:avLst>
          </a:prstGeom>
          <a:solidFill>
            <a:srgbClr val="FFFFFF"/>
          </a:solidFill>
          <a:ln cap="flat" cmpd="sng" w="10150">
            <a:solidFill>
              <a:srgbClr val="E2D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471652" y="215795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4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9941A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471652" y="2532857"/>
            <a:ext cx="2724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Administradora: configura servicios, disponibilidad, citas y fichas.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Clientas: consultan servicios y solicitan atención asistida.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Profesionales futuros: revisan agenda y fichas según permisos.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931617" y="2157953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7C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27C89"/>
                </a:solidFill>
                <a:latin typeface="Arial"/>
                <a:ea typeface="Arial"/>
                <a:cs typeface="Arial"/>
                <a:sym typeface="Arial"/>
              </a:rPr>
              <a:t>DENTRO DEL ALCANCE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931617" y="2532857"/>
            <a:ext cx="269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Catálogo de servicios.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Agenda semanal y bloqueos.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Fichas e historial profesional.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Solicitud asistida por WhatsApp.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Pruebas funcionales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60120" y="5559552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Criterio de priorización: entregar primero un </a:t>
            </a:r>
            <a:r>
              <a:rPr b="1" lang="en-US" sz="1350">
                <a:solidFill>
                  <a:srgbClr val="00263A"/>
                </a:solidFill>
              </a:rPr>
              <a:t>proyecto </a:t>
            </a:r>
            <a:r>
              <a:rPr b="1" i="0" lang="en-US" sz="13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demostrable y validable, dejando productos, stock y finanzas como evolución controlada.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Relación con el perfil de egreso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/>
          <p:nvPr/>
        </p:nvSpPr>
        <p:spPr>
          <a:xfrm>
            <a:off x="837880" y="1613913"/>
            <a:ext cx="9966900" cy="749700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084768" y="1787649"/>
            <a:ext cx="384000" cy="384000"/>
          </a:xfrm>
          <a:prstGeom prst="ellipse">
            <a:avLst/>
          </a:prstGeom>
          <a:solidFill>
            <a:srgbClr val="F9B8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84768" y="1888233"/>
            <a:ext cx="384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724848" y="1778504"/>
            <a:ext cx="290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60"/>
              <a:buFont typeface="Arial"/>
              <a:buNone/>
            </a:pPr>
            <a:r>
              <a:rPr b="1" i="0" lang="en-US" sz="13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Gestionar proyectos informáticos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861240" y="1778504"/>
            <a:ext cx="539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Planificación, backlog, carta Gantt, control de avances y decisiones de alcance.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7880" y="2574033"/>
            <a:ext cx="9966900" cy="749700"/>
          </a:xfrm>
          <a:prstGeom prst="roundRect">
            <a:avLst>
              <a:gd fmla="val 12195" name="adj"/>
            </a:avLst>
          </a:prstGeom>
          <a:solidFill>
            <a:srgbClr val="F2EBDE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084768" y="2747769"/>
            <a:ext cx="384000" cy="384000"/>
          </a:xfrm>
          <a:prstGeom prst="ellipse">
            <a:avLst/>
          </a:prstGeom>
          <a:solidFill>
            <a:srgbClr val="027C8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084768" y="2848353"/>
            <a:ext cx="384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724848" y="2738625"/>
            <a:ext cx="290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60"/>
              <a:buFont typeface="Arial"/>
              <a:buNone/>
            </a:pPr>
            <a:r>
              <a:rPr b="1" i="0" lang="en-US" sz="13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Construir modelos de datos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61240" y="2738625"/>
            <a:ext cx="539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Diseño de entidades para clientas, servicios, reservas, disponibilidad e historial.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37880" y="3534153"/>
            <a:ext cx="9966900" cy="749700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84768" y="3707889"/>
            <a:ext cx="384000" cy="384000"/>
          </a:xfrm>
          <a:prstGeom prst="ellipse">
            <a:avLst/>
          </a:prstGeom>
          <a:solidFill>
            <a:srgbClr val="00263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84768" y="3808473"/>
            <a:ext cx="384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724848" y="3698745"/>
            <a:ext cx="290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60"/>
              <a:buFont typeface="Arial"/>
              <a:buNone/>
            </a:pPr>
            <a:r>
              <a:rPr b="1" i="0" lang="en-US" sz="13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Desarrollar solución de software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861240" y="3698745"/>
            <a:ext cx="539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Implementación incremental de interfaz pública, panel administrativo e integración WhatsApp.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37880" y="4494273"/>
            <a:ext cx="9966900" cy="749700"/>
          </a:xfrm>
          <a:prstGeom prst="roundRect">
            <a:avLst>
              <a:gd fmla="val 12195" name="adj"/>
            </a:avLst>
          </a:prstGeom>
          <a:solidFill>
            <a:srgbClr val="F2EBDE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084768" y="4668009"/>
            <a:ext cx="384000" cy="384000"/>
          </a:xfrm>
          <a:prstGeom prst="ellipse">
            <a:avLst/>
          </a:prstGeom>
          <a:solidFill>
            <a:srgbClr val="A15C5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84768" y="4768593"/>
            <a:ext cx="384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724848" y="4658865"/>
            <a:ext cx="290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360"/>
              <a:buFont typeface="Arial"/>
              <a:buNone/>
            </a:pPr>
            <a:r>
              <a:rPr b="1" i="0" lang="en-US" sz="13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Realizar pruebas de certificación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61240" y="4658865"/>
            <a:ext cx="539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Diseño y ejecución de pruebas funcionales, validación con usuaria y mejoras al producto.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655156" y="1313481"/>
            <a:ext cx="10881300" cy="1079100"/>
          </a:xfrm>
          <a:prstGeom prst="roundRect">
            <a:avLst>
              <a:gd fmla="val 10169" name="adj"/>
            </a:avLst>
          </a:prstGeom>
          <a:solidFill>
            <a:srgbClr val="00263A"/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84340" y="1569513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D88A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4D88A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877150" y="1478077"/>
            <a:ext cx="79554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un prototipo funcional de plataforma web para gestionar reservas, disponibilidad, servicios y fichas de clientas de ZorroSerpiente.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22383" y="3178348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4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9941A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49815" y="3635548"/>
            <a:ext cx="411600" cy="411600"/>
          </a:xfrm>
          <a:prstGeom prst="rect">
            <a:avLst/>
          </a:prstGeom>
          <a:solidFill>
            <a:srgbClr val="F9B800"/>
          </a:solidFill>
          <a:ln cap="flat" cmpd="sng" w="9525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316743" y="364469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Levantar y documentar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316743" y="3964732"/>
            <a:ext cx="199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requerimientos funcionales y no funcionales a partir de la entrevista.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493015" y="3635548"/>
            <a:ext cx="411600" cy="41160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059943" y="364469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059943" y="3964732"/>
            <a:ext cx="199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arquitectura, modelo de datos e interfaces principales del </a:t>
            </a:r>
            <a:r>
              <a:rPr lang="en-US" sz="1250">
                <a:solidFill>
                  <a:srgbClr val="1F2933"/>
                </a:solidFill>
              </a:rPr>
              <a:t>proyecto</a:t>
            </a:r>
            <a:r>
              <a:rPr b="0" i="0" lang="en-US" sz="12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36215" y="3635548"/>
            <a:ext cx="411600" cy="41160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803143" y="364469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803143" y="3964732"/>
            <a:ext cx="199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catálogo, agenda, solicitud vía WhatsApp, panel admin y fichas de clientas.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979415" y="3635548"/>
            <a:ext cx="411600" cy="411600"/>
          </a:xfrm>
          <a:prstGeom prst="rect">
            <a:avLst/>
          </a:prstGeom>
          <a:solidFill>
            <a:srgbClr val="E7DFD1"/>
          </a:solidFill>
          <a:ln cap="flat" cmpd="sng" w="9525">
            <a:solidFill>
              <a:srgbClr val="E7DFD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546343" y="364469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546343" y="3964732"/>
            <a:ext cx="199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la solución con pruebas funcionales y retroalimentación de la usuaria.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a_brightly_lit_modern_office_meeting_room_scene_s.png" id="158" name="Google Shape;158;p7"/>
          <p:cNvPicPr preferRelativeResize="0"/>
          <p:nvPr/>
        </p:nvPicPr>
        <p:blipFill rotWithShape="1">
          <a:blip r:embed="rId3">
            <a:alphaModFix/>
          </a:blip>
          <a:srcRect b="12000" l="7000" r="55935" t="5000"/>
          <a:stretch/>
        </p:blipFill>
        <p:spPr>
          <a:xfrm>
            <a:off x="7543800" y="1024128"/>
            <a:ext cx="4005072" cy="5047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7543800" y="1024128"/>
            <a:ext cx="4005072" cy="5047488"/>
          </a:xfrm>
          <a:prstGeom prst="rect">
            <a:avLst/>
          </a:prstGeom>
          <a:solidFill>
            <a:srgbClr val="00263A">
              <a:alpha val="20000"/>
            </a:srgbClr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58368" y="1097280"/>
            <a:ext cx="5989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Scrum adaptado + desarrollo incremental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76656" y="1627632"/>
            <a:ext cx="5650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 trabajará en ciclos cortos para priorizar, construir, probar y ajustar la solución con retroalimentación de la usuaria.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1252728" y="2788920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C5B5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7"/>
          <p:cNvSpPr/>
          <p:nvPr/>
        </p:nvSpPr>
        <p:spPr>
          <a:xfrm>
            <a:off x="749808" y="2532888"/>
            <a:ext cx="502920" cy="502920"/>
          </a:xfrm>
          <a:prstGeom prst="ellipse">
            <a:avLst/>
          </a:prstGeom>
          <a:solidFill>
            <a:srgbClr val="F9B800"/>
          </a:solidFill>
          <a:ln cap="flat" cmpd="sng" w="10150">
            <a:solidFill>
              <a:srgbClr val="CF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49808" y="267919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85216" y="318211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Levantamiento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2514600" y="2788920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C5B5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7"/>
          <p:cNvSpPr/>
          <p:nvPr/>
        </p:nvSpPr>
        <p:spPr>
          <a:xfrm>
            <a:off x="2011680" y="2532888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CF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011680" y="267919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847088" y="318211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3776472" y="2788920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C5B5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7"/>
          <p:cNvSpPr/>
          <p:nvPr/>
        </p:nvSpPr>
        <p:spPr>
          <a:xfrm>
            <a:off x="3273552" y="2532888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CF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273552" y="267919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108960" y="318211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5038344" y="2788920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C5B5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7"/>
          <p:cNvSpPr/>
          <p:nvPr/>
        </p:nvSpPr>
        <p:spPr>
          <a:xfrm>
            <a:off x="4535424" y="2532888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CF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535424" y="267919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370832" y="318211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797296" y="2532888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CF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797296" y="267919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632704" y="318211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13232" y="395020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7C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27C89"/>
                </a:solidFill>
                <a:latin typeface="Arial"/>
                <a:ea typeface="Arial"/>
                <a:cs typeface="Arial"/>
                <a:sym typeface="Arial"/>
              </a:rPr>
              <a:t>RESPONSABILIDADES DEL EQUIPO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31520" y="4279392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Gestión del proyecto y seguimiento de avances.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Análisis de requerimientos y documentación.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Diseño UX/UI y prototipado.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Desarrollo frontend, backend y base de datos.</a:t>
            </a:r>
            <a:b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QA, pruebas funcionales y validación.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818120" y="5138928"/>
            <a:ext cx="3429000" cy="566928"/>
          </a:xfrm>
          <a:prstGeom prst="roundRect">
            <a:avLst>
              <a:gd fmla="val 12903" name="adj"/>
            </a:avLst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065008" y="532180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130"/>
              <a:buFont typeface="Arial"/>
              <a:buNone/>
            </a:pPr>
            <a:r>
              <a:rPr b="1" i="0" lang="en-US" sz="113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Trabajo colaborativo con roles definidos y revisión continua de entregables.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Plan de trabajo: 18 semanas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8"/>
          <p:cNvSpPr/>
          <p:nvPr/>
        </p:nvSpPr>
        <p:spPr>
          <a:xfrm>
            <a:off x="658368" y="1060704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20"/>
              <a:buFont typeface="Arial"/>
              <a:buNone/>
            </a:pPr>
            <a:r>
              <a:rPr b="1" i="0" lang="en-US" sz="172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Distribución propuesta para cumplir los objetivos de la asignatura, manteniendo entregables verificables por fase.</a:t>
            </a:r>
            <a:endParaRPr b="0" i="0" sz="1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697480" y="1536192"/>
            <a:ext cx="1719072" cy="256032"/>
          </a:xfrm>
          <a:prstGeom prst="roundRect">
            <a:avLst>
              <a:gd fmla="val 10714" name="adj"/>
            </a:avLst>
          </a:prstGeom>
          <a:solidFill>
            <a:srgbClr val="F9B800"/>
          </a:solidFill>
          <a:ln cap="flat" cmpd="sng" w="12700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2734056" y="1609344"/>
            <a:ext cx="164592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Fase 1 · Definición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453128" y="1536192"/>
            <a:ext cx="4352544" cy="256032"/>
          </a:xfrm>
          <a:prstGeom prst="roundRect">
            <a:avLst>
              <a:gd fmla="val 10714" name="adj"/>
            </a:avLst>
          </a:prstGeom>
          <a:solidFill>
            <a:srgbClr val="027C89"/>
          </a:solidFill>
          <a:ln cap="flat" cmpd="sng" w="12700">
            <a:solidFill>
              <a:srgbClr val="027C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489704" y="1609344"/>
            <a:ext cx="427939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Fase 2 · Desarrollo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842248" y="1536192"/>
            <a:ext cx="1719072" cy="256032"/>
          </a:xfrm>
          <a:prstGeom prst="roundRect">
            <a:avLst>
              <a:gd fmla="val 10714" name="adj"/>
            </a:avLst>
          </a:prstGeom>
          <a:solidFill>
            <a:srgbClr val="00263A"/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878824" y="1609344"/>
            <a:ext cx="164592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 · Validación y cierre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697480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8"/>
          <p:cNvCxnSpPr/>
          <p:nvPr/>
        </p:nvCxnSpPr>
        <p:spPr>
          <a:xfrm>
            <a:off x="2889504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8"/>
          <p:cNvSpPr/>
          <p:nvPr/>
        </p:nvSpPr>
        <p:spPr>
          <a:xfrm>
            <a:off x="3136392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3328416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8"/>
          <p:cNvSpPr/>
          <p:nvPr/>
        </p:nvSpPr>
        <p:spPr>
          <a:xfrm>
            <a:off x="3575304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3767328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8"/>
          <p:cNvSpPr/>
          <p:nvPr/>
        </p:nvSpPr>
        <p:spPr>
          <a:xfrm>
            <a:off x="4014216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4206240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/>
          <p:nvPr/>
        </p:nvSpPr>
        <p:spPr>
          <a:xfrm>
            <a:off x="4453128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8"/>
          <p:cNvCxnSpPr/>
          <p:nvPr/>
        </p:nvCxnSpPr>
        <p:spPr>
          <a:xfrm>
            <a:off x="4645152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8"/>
          <p:cNvSpPr/>
          <p:nvPr/>
        </p:nvSpPr>
        <p:spPr>
          <a:xfrm>
            <a:off x="4892040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5084064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8"/>
          <p:cNvSpPr/>
          <p:nvPr/>
        </p:nvSpPr>
        <p:spPr>
          <a:xfrm>
            <a:off x="5330952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5522976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5769864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5961888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8"/>
          <p:cNvSpPr/>
          <p:nvPr/>
        </p:nvSpPr>
        <p:spPr>
          <a:xfrm>
            <a:off x="6208776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6400800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6647688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6839712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8"/>
          <p:cNvSpPr/>
          <p:nvPr/>
        </p:nvSpPr>
        <p:spPr>
          <a:xfrm>
            <a:off x="7086600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7278624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7525512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8"/>
          <p:cNvCxnSpPr/>
          <p:nvPr/>
        </p:nvCxnSpPr>
        <p:spPr>
          <a:xfrm>
            <a:off x="7717536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/>
          <p:nvPr/>
        </p:nvSpPr>
        <p:spPr>
          <a:xfrm>
            <a:off x="7964424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8"/>
          <p:cNvCxnSpPr/>
          <p:nvPr/>
        </p:nvCxnSpPr>
        <p:spPr>
          <a:xfrm>
            <a:off x="8156448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8"/>
          <p:cNvSpPr/>
          <p:nvPr/>
        </p:nvSpPr>
        <p:spPr>
          <a:xfrm>
            <a:off x="8403336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8595360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8842248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>
            <a:off x="9034272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/>
          <p:nvPr/>
        </p:nvSpPr>
        <p:spPr>
          <a:xfrm>
            <a:off x="9281160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9473184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/>
          <p:nvPr/>
        </p:nvSpPr>
        <p:spPr>
          <a:xfrm>
            <a:off x="9720072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9912096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8"/>
          <p:cNvSpPr/>
          <p:nvPr/>
        </p:nvSpPr>
        <p:spPr>
          <a:xfrm>
            <a:off x="10158984" y="1892808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483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7748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8"/>
          <p:cNvCxnSpPr/>
          <p:nvPr/>
        </p:nvCxnSpPr>
        <p:spPr>
          <a:xfrm>
            <a:off x="10351008" y="2112264"/>
            <a:ext cx="0" cy="3273552"/>
          </a:xfrm>
          <a:prstGeom prst="straightConnector1">
            <a:avLst/>
          </a:prstGeom>
          <a:noFill/>
          <a:ln cap="flat" cmpd="sng" w="9525">
            <a:solidFill>
              <a:srgbClr val="E4DB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/>
          <p:nvPr/>
        </p:nvSpPr>
        <p:spPr>
          <a:xfrm>
            <a:off x="658368" y="2377440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Levantamiento y definición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697480" y="2340864"/>
            <a:ext cx="1243584" cy="256032"/>
          </a:xfrm>
          <a:prstGeom prst="roundRect">
            <a:avLst>
              <a:gd fmla="val 14286" name="adj"/>
            </a:avLst>
          </a:prstGeom>
          <a:solidFill>
            <a:srgbClr val="F9B800"/>
          </a:solidFill>
          <a:ln cap="flat" cmpd="sng" w="12700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58368" y="285292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Diseño UX/UI y modelo de datos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014216" y="2816352"/>
            <a:ext cx="1682496" cy="256032"/>
          </a:xfrm>
          <a:prstGeom prst="roundRect">
            <a:avLst>
              <a:gd fmla="val 14286" name="adj"/>
            </a:avLst>
          </a:prstGeom>
          <a:solidFill>
            <a:srgbClr val="C9941A"/>
          </a:solidFill>
          <a:ln cap="flat" cmpd="sng" w="12700">
            <a:solidFill>
              <a:srgbClr val="C9941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58368" y="3328416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Construcción del sitio público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892040" y="3291840"/>
            <a:ext cx="1682496" cy="256032"/>
          </a:xfrm>
          <a:prstGeom prst="roundRect">
            <a:avLst>
              <a:gd fmla="val 14286" name="adj"/>
            </a:avLst>
          </a:prstGeom>
          <a:solidFill>
            <a:srgbClr val="027C89"/>
          </a:solidFill>
          <a:ln cap="flat" cmpd="sng" w="12700">
            <a:solidFill>
              <a:srgbClr val="027C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58368" y="3803904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Panel administrativo y agenda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208776" y="3767328"/>
            <a:ext cx="2121408" cy="256032"/>
          </a:xfrm>
          <a:prstGeom prst="roundRect">
            <a:avLst>
              <a:gd fmla="val 14286" name="adj"/>
            </a:avLst>
          </a:prstGeom>
          <a:solidFill>
            <a:srgbClr val="00263A"/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58368" y="427939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Integración WhatsApp y planilla visual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525512" y="4242816"/>
            <a:ext cx="1243584" cy="256032"/>
          </a:xfrm>
          <a:prstGeom prst="roundRect">
            <a:avLst>
              <a:gd fmla="val 14286" name="adj"/>
            </a:avLst>
          </a:prstGeom>
          <a:solidFill>
            <a:srgbClr val="A15C57"/>
          </a:solidFill>
          <a:ln cap="flat" cmpd="sng" w="12700">
            <a:solidFill>
              <a:srgbClr val="A15C5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658368" y="4754880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Pruebas, ajustes y presentación final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842248" y="4718304"/>
            <a:ext cx="1682496" cy="256032"/>
          </a:xfrm>
          <a:prstGeom prst="roundRect">
            <a:avLst>
              <a:gd fmla="val 14286" name="adj"/>
            </a:avLst>
          </a:prstGeom>
          <a:solidFill>
            <a:srgbClr val="1F2933"/>
          </a:solidFill>
          <a:ln cap="flat" cmpd="sng" w="12700">
            <a:solidFill>
              <a:srgbClr val="1F29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58368" y="5623560"/>
            <a:ext cx="10771632" cy="457200"/>
          </a:xfrm>
          <a:prstGeom prst="roundRect">
            <a:avLst>
              <a:gd fmla="val 16000" name="adj"/>
            </a:avLst>
          </a:prstGeom>
          <a:solidFill>
            <a:srgbClr val="F1E7CA"/>
          </a:solidFill>
          <a:ln cap="flat" cmpd="sng" w="12700">
            <a:solidFill>
              <a:srgbClr val="F1E7C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960120" y="5779008"/>
            <a:ext cx="10149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00263A"/>
                </a:solidFill>
                <a:latin typeface="Arial"/>
                <a:ea typeface="Arial"/>
                <a:cs typeface="Arial"/>
                <a:sym typeface="Arial"/>
              </a:rPr>
              <a:t>Recursos: computadores, Git, herramienta de diseño, framework web, base de datos, ambiente de pruebas y reuniones de validación con la usuaria.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9829800" y="256032"/>
            <a:ext cx="1415491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620"/>
              <a:buFont typeface="Play"/>
              <a:buNone/>
            </a:pPr>
            <a:r>
              <a:rPr b="1" i="0" lang="en-US" sz="162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62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60120" y="25603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63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0263A"/>
                </a:solidFill>
                <a:latin typeface="Play"/>
                <a:ea typeface="Play"/>
                <a:cs typeface="Play"/>
                <a:sym typeface="Play"/>
              </a:rPr>
              <a:t>Evidencias esperadas y factibilidad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502920" y="841248"/>
            <a:ext cx="11201400" cy="0"/>
          </a:xfrm>
          <a:prstGeom prst="straightConnector1">
            <a:avLst/>
          </a:prstGeom>
          <a:noFill/>
          <a:ln cap="flat" cmpd="sng" w="13950">
            <a:solidFill>
              <a:srgbClr val="D8C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9"/>
          <p:cNvSpPr/>
          <p:nvPr/>
        </p:nvSpPr>
        <p:spPr>
          <a:xfrm>
            <a:off x="658368" y="1060704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Las evidencias permiten demostrar avance, validación y logro de las actividades planificadas.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85800" y="1755648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434840" y="1755648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E0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8183880" y="1755648"/>
            <a:ext cx="2926080" cy="3246120"/>
          </a:xfrm>
          <a:prstGeom prst="roundRect">
            <a:avLst>
              <a:gd fmla="val 3750" name="adj"/>
            </a:avLst>
          </a:prstGeom>
          <a:solidFill>
            <a:srgbClr val="00263A"/>
          </a:solidFill>
          <a:ln cap="flat" cmpd="sng" w="12700">
            <a:solidFill>
              <a:srgbClr val="0026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1005840" y="20756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4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9941A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05840" y="2395728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Matriz de requerimientos.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Historias de usuario.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Modelo de datos.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Wireframes.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Backlog y carta Gantt.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754880" y="20756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7C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27C89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754880" y="2395728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Prototipo funcional web.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Informe de pruebas.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Validación con usuaria.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Manual básico.</a:t>
            </a:r>
            <a:b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Repositorio y demo.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458200" y="20756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D88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4D88A"/>
                </a:solidFill>
                <a:latin typeface="Arial"/>
                <a:ea typeface="Arial"/>
                <a:cs typeface="Arial"/>
                <a:sym typeface="Arial"/>
              </a:rPr>
              <a:t>FACTIBILIDAD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458200" y="2395728"/>
            <a:ext cx="2286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r>
              <a:rPr b="1" i="0" lang="en-US" sz="14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viable académico</a:t>
            </a:r>
            <a:r>
              <a:rPr b="1" i="0" lang="en-US" sz="14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flujo principal definido, recursos accesibles y desarrollo modular priorizado.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458200" y="382219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DCE7EB"/>
                </a:solidFill>
                <a:latin typeface="Arial"/>
                <a:ea typeface="Arial"/>
                <a:cs typeface="Arial"/>
                <a:sym typeface="Arial"/>
              </a:rPr>
              <a:t>Riesgos controlados: cambios de alcance, disponibilidad de usuaria e integración WhatsApp.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DCE7EB"/>
                </a:solidFill>
                <a:latin typeface="Arial"/>
                <a:ea typeface="Arial"/>
                <a:cs typeface="Arial"/>
                <a:sym typeface="Arial"/>
              </a:rPr>
              <a:t>Mitigación: sprints, validación frecuente y enlaces prellenados.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2D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realistic_photo_style_indoor_workspace_scene_a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11000" l="0" r="23961" t="13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2D">
              <a:alpha val="83922"/>
            </a:srgbClr>
          </a:solidFill>
          <a:ln cap="flat" cmpd="sng" w="12700">
            <a:solidFill>
              <a:srgbClr val="0B1E2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9B800"/>
          </a:solidFill>
          <a:ln cap="flat" cmpd="sng" w="12700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9784080" y="420624"/>
            <a:ext cx="15727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13232" y="71323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D88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4D88A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13232" y="1508760"/>
            <a:ext cx="6400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Resultado esperado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749808" y="2423160"/>
            <a:ext cx="6080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7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EEF4F7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lang="en-US" sz="2050">
                <a:solidFill>
                  <a:srgbClr val="EEF4F7"/>
                </a:solidFill>
              </a:rPr>
              <a:t>proyecto </a:t>
            </a:r>
            <a:r>
              <a:rPr b="1" i="0" lang="en-US" sz="2050" u="none" cap="none" strike="noStrike">
                <a:solidFill>
                  <a:srgbClr val="EEF4F7"/>
                </a:solidFill>
                <a:latin typeface="Arial"/>
                <a:ea typeface="Arial"/>
                <a:cs typeface="Arial"/>
                <a:sym typeface="Arial"/>
              </a:rPr>
              <a:t>web validado que ordena reservas, disponibilidad y fichas de clientas, sin perder la atención personalizada que caracteriza a ZorroSerpiente.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68096" y="4005072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0E7"/>
              </a:buClr>
              <a:buSzPts val="1580"/>
              <a:buFont typeface="Arial"/>
              <a:buNone/>
            </a:pPr>
            <a:r>
              <a:rPr b="0" i="0" lang="en-US" sz="1580" u="none" cap="none" strike="noStrike">
                <a:solidFill>
                  <a:srgbClr val="D4E0E7"/>
                </a:solidFill>
                <a:latin typeface="Arial"/>
                <a:ea typeface="Arial"/>
                <a:cs typeface="Arial"/>
                <a:sym typeface="Arial"/>
              </a:rPr>
              <a:t>Evolución posterior: productos, stock, finanzas y acceso ampliado para profesionales.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2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realistic_photo_style_indoor_workspace_scene_a.png" id="287" name="Google Shape;287;g3f8b26d80b3_2_4"/>
          <p:cNvPicPr preferRelativeResize="0"/>
          <p:nvPr/>
        </p:nvPicPr>
        <p:blipFill rotWithShape="1">
          <a:blip r:embed="rId3">
            <a:alphaModFix/>
          </a:blip>
          <a:srcRect b="10997" l="0" r="23960" t="13003"/>
          <a:stretch/>
        </p:blipFill>
        <p:spPr>
          <a:xfrm>
            <a:off x="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f8b26d80b3_2_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E2D">
              <a:alpha val="83920"/>
            </a:srgbClr>
          </a:solidFill>
          <a:ln cap="flat" cmpd="sng" w="12700">
            <a:solidFill>
              <a:srgbClr val="0B1E2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8b26d80b3_2_4"/>
          <p:cNvSpPr/>
          <p:nvPr/>
        </p:nvSpPr>
        <p:spPr>
          <a:xfrm>
            <a:off x="0" y="0"/>
            <a:ext cx="237600" cy="6858000"/>
          </a:xfrm>
          <a:prstGeom prst="rect">
            <a:avLst/>
          </a:prstGeom>
          <a:solidFill>
            <a:srgbClr val="F9B800"/>
          </a:solidFill>
          <a:ln cap="flat" cmpd="sng" w="12700">
            <a:solidFill>
              <a:srgbClr val="F9B8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8b26d80b3_2_4"/>
          <p:cNvSpPr/>
          <p:nvPr/>
        </p:nvSpPr>
        <p:spPr>
          <a:xfrm>
            <a:off x="9784080" y="420624"/>
            <a:ext cx="157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Duoc</a:t>
            </a: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8b26d80b3_2_4"/>
          <p:cNvSpPr/>
          <p:nvPr/>
        </p:nvSpPr>
        <p:spPr>
          <a:xfrm>
            <a:off x="4041650" y="2022150"/>
            <a:ext cx="38079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800"/>
              </a:buClr>
              <a:buSzPts val="2400"/>
              <a:buFont typeface="Play"/>
              <a:buNone/>
            </a:pPr>
            <a:r>
              <a:rPr b="1" i="0" lang="en-US" sz="6000" u="none" cap="none" strike="noStrike">
                <a:solidFill>
                  <a:srgbClr val="F9B800"/>
                </a:solidFill>
                <a:latin typeface="Play"/>
                <a:ea typeface="Play"/>
                <a:cs typeface="Play"/>
                <a:sym typeface="Play"/>
              </a:rPr>
              <a:t>Preguntas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2026-09-01T02:49:18Z</dcterms:created>
  <dc:creator>Equipo Proyecto APT</dc:creator>
</cp:coreProperties>
</file>